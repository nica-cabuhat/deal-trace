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A47"/>
    <a:srgbClr val="00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22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411480"/>
            <a:ext cx="2641645" cy="4402825"/>
          </a:xfrm>
          <a:prstGeom prst="rect">
            <a:avLst/>
          </a:prstGeom>
          <a:noFill/>
          <a:ln w="19050">
            <a:solidFill>
              <a:srgbClr val="00ED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A7E0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0" y="548640"/>
            <a:ext cx="532860" cy="21945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0" y="548640"/>
            <a:ext cx="532860" cy="21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✗ LOST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Howard Hamlin &amp; Associates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280410"/>
            <a:ext cx="4114800" cy="0"/>
          </a:xfrm>
          <a:prstGeom prst="line">
            <a:avLst/>
          </a:prstGeom>
          <a:noFill/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548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PROPOSAL VALUE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46520" y="749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$180,000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LOSS REASON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4652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Mismatch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194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DAYS IN CYCLE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652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017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SEATS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46520" y="32186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3840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00EDFF"/>
                </a:solidFill>
              </a:rPr>
              <a:t>LOSS DATE</a:t>
            </a:r>
            <a:endParaRPr lang="en-US" sz="800" dirty="0">
              <a:solidFill>
                <a:srgbClr val="00ED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46520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17, 2026</a:t>
            </a:r>
            <a:endParaRPr lang="en-US" sz="13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8F751CB9-FEF4-D1BD-3898-D575C1BD1E18}"/>
              </a:ext>
            </a:extLst>
          </p:cNvPr>
          <p:cNvSpPr/>
          <p:nvPr/>
        </p:nvSpPr>
        <p:spPr>
          <a:xfrm>
            <a:off x="457200" y="145753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2000" dirty="0">
              <a:solidFill>
                <a:srgbClr val="00EDFF"/>
              </a:solidFill>
            </a:endParaRP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0047CEE5-AA94-186A-EE4A-92953AA2E3DB}"/>
              </a:ext>
            </a:extLst>
          </p:cNvPr>
          <p:cNvSpPr/>
          <p:nvPr/>
        </p:nvSpPr>
        <p:spPr>
          <a:xfrm>
            <a:off x="457200" y="2898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 ·  APAC</a:t>
            </a:r>
            <a:endParaRPr lang="en-US" sz="13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567F98A7-9C9F-059B-59B9-26DF445F220E}"/>
              </a:ext>
            </a:extLst>
          </p:cNvPr>
          <p:cNvSpPr/>
          <p:nvPr/>
        </p:nvSpPr>
        <p:spPr>
          <a:xfrm>
            <a:off x="457200" y="3511296"/>
            <a:ext cx="50049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BDE8"/>
                </a:solidFill>
              </a:rPr>
              <a:t>Rep: </a:t>
            </a:r>
            <a:r>
              <a:rPr lang="en-US" sz="1200" dirty="0">
                <a:solidFill>
                  <a:srgbClr val="FFFFFF"/>
                </a:solidFill>
              </a:rPr>
              <a:t>Nicaela Cabuhat  ·  Sales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LOST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Howard Hamlin &amp; Associates  |  January 17,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Snapshot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knew — and what we missed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64008" cy="100584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$180,000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Proposal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Full ZTNA + XDR scope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42032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42032" y="164592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88336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688336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Days in Cycle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88336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Before disengagement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26864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26864" y="1645920"/>
            <a:ext cx="64008" cy="10058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73168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Target Seats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150-user firm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11696" y="16459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11696" y="1645920"/>
            <a:ext cx="64008" cy="1005840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17190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58000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Emails Exchanged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35000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Entire deal lifecycle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816352"/>
            <a:ext cx="4069080" cy="1874520"/>
          </a:xfrm>
          <a:prstGeom prst="rect">
            <a:avLst/>
          </a:prstGeom>
          <a:solidFill>
            <a:srgbClr val="E8EDF9"/>
          </a:solidFill>
          <a:ln w="12700">
            <a:solidFill>
              <a:srgbClr val="CA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2816352"/>
            <a:ext cx="73152" cy="187452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07792"/>
            <a:ext cx="256032" cy="25603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1440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33A0"/>
                </a:solidFill>
              </a:rPr>
              <a:t>ACCOUNT PROFILE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94360" y="3218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Industry: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810512" y="3218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Legal Services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4360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Region: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1810512" y="34930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EMEA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9436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Company: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810512" y="37673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150 employees · 1 office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94360" y="4041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Product: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810512" y="4041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Sophos ZTNA + XDR Bundle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94360" y="4315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1E5E"/>
                </a:solidFill>
              </a:rPr>
              <a:t>Competitor: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1810512" y="43159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None — stayed with incumbent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09160" y="2816352"/>
            <a:ext cx="3977640" cy="1874520"/>
          </a:xfrm>
          <a:prstGeom prst="rect">
            <a:avLst/>
          </a:prstGeom>
          <a:solidFill>
            <a:srgbClr val="FDF2F2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709160" y="2816352"/>
            <a:ext cx="73152" cy="187452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07792"/>
            <a:ext cx="256032" cy="256032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166360" y="2880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D63031"/>
                </a:solidFill>
              </a:rPr>
              <a:t>WHAT WAS MISSING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864608" y="3291840"/>
            <a:ext cx="128016" cy="128016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5074920" y="321868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No discovery call — budget never validated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864608" y="3639312"/>
            <a:ext cx="128016" cy="128016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5074920" y="356616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No CISO or IT Director in thread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864608" y="3986784"/>
            <a:ext cx="128016" cy="128016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5074920" y="391363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No urgency trigger or compliance deadline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4864608" y="4334256"/>
            <a:ext cx="128016" cy="128016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5074920" y="426110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No ROI / TCO framing before pricing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LOST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Howard Hamlin &amp; Associates  |  January 17,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3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deal unraveled — step by step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384048" cy="384048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6504"/>
            <a:ext cx="228600" cy="2286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4652" y="2121408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005840" y="1664208"/>
            <a:ext cx="7680960" cy="50292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78992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3A0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80360" y="1773936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17520" y="1664208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Evaluating ZTNA and endpoint protection upgrade for 150-user firm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3042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228600" cy="228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44652" y="2706624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1005840" y="2249424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078992" y="22494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First Warning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880360" y="2359152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017520" y="2249424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Prospect engaged promptly but immediately asked for pricing — no discovery call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16936"/>
            <a:ext cx="228600" cy="2286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44652" y="3291840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1005840" y="2834640"/>
            <a:ext cx="7680960" cy="50292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078992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Critical Signal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880360" y="2944368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017520" y="283464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Budget expectation of ~$80K stated in reply #4 — 55% below proposal value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02152"/>
            <a:ext cx="228600" cy="2286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44652" y="3877056"/>
            <a:ext cx="0" cy="182880"/>
          </a:xfrm>
          <a:prstGeom prst="line">
            <a:avLst/>
          </a:prstGeom>
          <a:noFill/>
          <a:ln w="1905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1005840" y="3419856"/>
            <a:ext cx="7680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1078992" y="34198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Recovery Attempt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880360" y="3529584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3017520" y="3419856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Rep offered trimmed 100-seat endpoint-only scope at ~$90K — still above stated budget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57200" y="4059936"/>
            <a:ext cx="384048" cy="384048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87368"/>
            <a:ext cx="228600" cy="2286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1005840" y="4005072"/>
            <a:ext cx="7680960" cy="502920"/>
          </a:xfrm>
          <a:prstGeom prst="rect">
            <a:avLst/>
          </a:prstGeom>
          <a:solidFill>
            <a:srgbClr val="FDF2F2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1005840" y="4005072"/>
            <a:ext cx="54864" cy="50292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1078992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031"/>
                </a:solidFill>
              </a:rPr>
              <a:t>Loss Event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2880360" y="4114800"/>
            <a:ext cx="0" cy="27432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3017520" y="400507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3031"/>
                </a:solidFill>
              </a:rPr>
              <a:t>Howard stated they are going in a different direction — no further engagement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457200" y="4590288"/>
            <a:ext cx="8229600" cy="182880"/>
          </a:xfrm>
          <a:prstGeom prst="rect">
            <a:avLst/>
          </a:prstGeom>
          <a:solidFill>
            <a:srgbClr val="FDF2F2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594360" y="459028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3031"/>
                </a:solidFill>
              </a:rPr>
              <a:t>Primary loss reason: Budget Mismatch  ·  Competitor: None — stayed with incumbent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LOST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Howard Hamlin &amp; Associates  |  January 17,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Timeline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— from outreach to disengagement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8046720" cy="36576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00328" y="2532888"/>
            <a:ext cx="237744" cy="23774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6280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A0"/>
                </a:solidFill>
              </a:rPr>
              <a:t>Day 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7680" y="1993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Cold outreach sent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624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ZTNA + endpoint protection upgrade pitch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219200" y="2606040"/>
            <a:ext cx="0" cy="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41448" y="253288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5740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Day 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2880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Howard replied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3736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Interested — asked for pricing immediately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560320" y="2688336"/>
            <a:ext cx="0" cy="164592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82568" y="2532888"/>
            <a:ext cx="237744" cy="23774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98520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A0"/>
                </a:solidFill>
              </a:rPr>
              <a:t>Day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169920" y="1993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Pricing sent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07848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$180K full-scope ZTNA + XDR, 150 users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901440" y="2606040"/>
            <a:ext cx="0" cy="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23688" y="253288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3964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Day 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1104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Budget concern raised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41960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Expected ~$80K — significant gap flagged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242560" y="2688336"/>
            <a:ext cx="0" cy="164592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64808" y="2532888"/>
            <a:ext cx="237744" cy="23774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0760" y="1783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3A0"/>
                </a:solidFill>
              </a:rPr>
              <a:t>Day 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52160" y="1993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Revised scope offered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60720" y="2313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100-seat endpoint-only at ~$90K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583680" y="2606040"/>
            <a:ext cx="0" cy="0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41920" y="2468880"/>
            <a:ext cx="365760" cy="365760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784" y="2523744"/>
            <a:ext cx="256032" cy="25603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42188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63031"/>
                </a:solidFill>
              </a:rPr>
              <a:t>Day 3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193280" y="3035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1E5E"/>
                </a:solidFill>
              </a:rPr>
              <a:t>Deal lost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101840" y="3355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Going in a different direction — no further engagement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924800" y="2688336"/>
            <a:ext cx="0" cy="164592"/>
          </a:xfrm>
          <a:prstGeom prst="line">
            <a:avLst/>
          </a:prstGeom>
          <a:noFill/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2286000" y="4663440"/>
            <a:ext cx="146304" cy="146304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487168" y="4636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Rep Action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0" y="46634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315968" y="4636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Prospect Action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943600" y="4663440"/>
            <a:ext cx="146304" cy="146304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144768" y="4636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Loss Event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LOST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Howard Hamlin &amp; Associates  |  January 17,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Signals Detected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red flags identified by DealTrace across this thread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4937760" cy="3063240"/>
          </a:xfrm>
          <a:prstGeom prst="rect">
            <a:avLst/>
          </a:prstGeom>
          <a:solidFill>
            <a:srgbClr val="FDF2F2"/>
          </a:solidFill>
          <a:ln w="1905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" cy="3063240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719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D63031"/>
                </a:solidFill>
              </a:rPr>
              <a:t>LOSS SIGNAL CHECKLIST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139696"/>
            <a:ext cx="237744" cy="237744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57984"/>
            <a:ext cx="164592" cy="16459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20665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No Discovery Call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880360" y="2066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Prospect skipped discovery; jumped straight to pricing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4360" y="2569464"/>
            <a:ext cx="237744" cy="237744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87752"/>
            <a:ext cx="164592" cy="1645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4400" y="24963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Budget Below Proposal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880360" y="2496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Stated $80K budget vs $180K proposal — 55% gap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94360" y="2999232"/>
            <a:ext cx="237744" cy="237744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164592" cy="16459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Single Stakeholder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880360" y="2926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Only Howard engaged — no CISO or IT Director in thread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94360" y="3429000"/>
            <a:ext cx="237744" cy="237744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47288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33558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No Urgency Trigger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880360" y="3355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No breach, audit, or compliance deadline cited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94360" y="3858768"/>
            <a:ext cx="237744" cy="237744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77056"/>
            <a:ext cx="164592" cy="16459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44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E5E"/>
                </a:solidFill>
              </a:rPr>
              <a:t>Slow Prospect Response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2880360" y="37856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48+ hour reply times after proposal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94360" y="4288536"/>
            <a:ext cx="237744" cy="237744"/>
          </a:xfrm>
          <a:prstGeom prst="ellipse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06824"/>
            <a:ext cx="164592" cy="1645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4400" y="4215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Competitor Comparison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2880360" y="42153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</a:rPr>
              <a:t>No competitor named — stayed with incumbent vendor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5577840" y="1627632"/>
            <a:ext cx="3108960" cy="3063240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56692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AAAA"/>
                </a:solidFill>
              </a:rPr>
              <a:t>RISK SCORE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566928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7200" dirty="0"/>
          </a:p>
        </p:txBody>
      </p:sp>
      <p:sp>
        <p:nvSpPr>
          <p:cNvPr id="41" name="Text 33"/>
          <p:cNvSpPr/>
          <p:nvPr/>
        </p:nvSpPr>
        <p:spPr>
          <a:xfrm>
            <a:off x="5669280" y="2999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AAAA"/>
                </a:solidFill>
              </a:rPr>
              <a:t>/ 100</a:t>
            </a:r>
            <a:endParaRPr lang="en-US" sz="1400" dirty="0"/>
          </a:p>
        </p:txBody>
      </p:sp>
      <p:sp>
        <p:nvSpPr>
          <p:cNvPr id="42" name="Text 34"/>
          <p:cNvSpPr/>
          <p:nvPr/>
        </p:nvSpPr>
        <p:spPr>
          <a:xfrm>
            <a:off x="566928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5 of 6 loss signals present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760720" y="3703320"/>
            <a:ext cx="2743200" cy="16459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5760720" y="3703320"/>
            <a:ext cx="2276856" cy="164592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5669280" y="3950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D63031"/>
                </a:solidFill>
              </a:rPr>
              <a:t>HIGH LOSS RISK — EARLY EXIT RECOMMENDED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LOST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Howard Hamlin &amp; Associates  |  January 17,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6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Analysis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at each stage — and the corrective 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8229600" cy="29260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6276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PHASE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00200" y="16276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MISTAKE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0" y="1627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IMPACT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35040" y="1627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FIX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2121408"/>
            <a:ext cx="960120" cy="237744"/>
          </a:xfrm>
          <a:prstGeom prst="rect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21214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Qualification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193852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63031"/>
                </a:solidFill>
              </a:rPr>
              <a:t>Skipped discovery call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0" y="19385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Rep never validated budget authority or confirmed real spend capacity before sending proposal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19385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1E5E"/>
                </a:solidFill>
              </a:rPr>
              <a:t>→  Always run a 20-min discovery call before any proposal. Budget confirmation is non-negotiable.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" y="2788920"/>
            <a:ext cx="96012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" y="27889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Proposal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00200" y="2606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63031"/>
                </a:solidFill>
              </a:rPr>
              <a:t>Sent full-scope $180K proposal without anchoring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Prospect had a $80K expectation — the gap was too large to bridge with a scope trim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1E5E"/>
                </a:solidFill>
              </a:rPr>
              <a:t>→  Anchor with a value-based ROI frame before revealing price. Send TCO comparison, not just a quote.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7355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3776" y="3456432"/>
            <a:ext cx="960120" cy="237744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" y="34564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Stakeholder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00200" y="327355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63031"/>
                </a:solidFill>
              </a:rPr>
              <a:t>Never escalated beyond Howard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0" y="32735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Howard had no authority to approve $180K. No CISO or IT Director was ever in the thread.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32735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1E5E"/>
                </a:solidFill>
              </a:rPr>
              <a:t>→  Ask for CISO/IT Director introduction in reply #2 on every deal above $50K.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941064"/>
            <a:ext cx="8229600" cy="6400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93776" y="4123944"/>
            <a:ext cx="960120" cy="23774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" y="41239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Recovery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600200" y="3941064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63031"/>
                </a:solidFill>
              </a:rPr>
              <a:t>Scope reduction without new value framing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0" y="39410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Trimming to $90K felt like a discount rather than a new solution — didn't reset the conversation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394106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1E5E"/>
                </a:solidFill>
              </a:rPr>
              <a:t>→  When pivoting on scope, reframe the value entirely. Present as a new phase-1 deployment plan.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E5E"/>
          </a:solidFill>
          <a:ln w="12700">
            <a:solidFill>
              <a:srgbClr val="001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ABDE8"/>
                </a:solidFill>
              </a:rPr>
              <a:t>SOPHOS  |  DEALTRACE  |  CASE STUDY: LOST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150" dirty="0">
                <a:solidFill>
                  <a:srgbClr val="AABDE8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Sophos Confidential  |  DealTrace Case Study: Howard Hamlin &amp; Associates  |  January 17,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7 / 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1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points in this thread — and rules for next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3931920" cy="3063240"/>
          </a:xfrm>
          <a:prstGeom prst="rect">
            <a:avLst/>
          </a:prstGeom>
          <a:solidFill>
            <a:srgbClr val="FFF8F0"/>
          </a:solidFill>
          <a:ln w="19050">
            <a:solidFill>
              <a:srgbClr val="FFD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" cy="3063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1907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9264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</a:rPr>
              <a:t>WHERE WE COULD HAVE SAVED IT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1792" y="2167128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1792" y="21671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Reply #1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353312" y="212140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Book discovery call before sending any pricing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715768"/>
            <a:ext cx="3931920" cy="0"/>
          </a:xfrm>
          <a:prstGeom prst="line">
            <a:avLst/>
          </a:prstGeom>
          <a:noFill/>
          <a:ln w="9525">
            <a:solidFill>
              <a:srgbClr val="FFD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21792" y="2807208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792" y="28072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Reply #2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353312" y="276148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Ask: 'What budget has been approved for this?' before building proposal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355848"/>
            <a:ext cx="3931920" cy="0"/>
          </a:xfrm>
          <a:prstGeom prst="line">
            <a:avLst/>
          </a:prstGeom>
          <a:noFill/>
          <a:ln w="9525">
            <a:solidFill>
              <a:srgbClr val="FFD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1792" y="3447288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1792" y="34472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Reply #3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353312" y="340156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Lead with TCO vs incumbent rather than raw price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995928"/>
            <a:ext cx="3931920" cy="0"/>
          </a:xfrm>
          <a:prstGeom prst="line">
            <a:avLst/>
          </a:prstGeom>
          <a:noFill/>
          <a:ln w="9525">
            <a:solidFill>
              <a:srgbClr val="FFD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21792" y="4087368"/>
            <a:ext cx="6583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21792" y="4087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Reply #4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353312" y="4041648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Escalate: 'Can we loop in your CISO to discuss the security ROI?'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617720" y="1627632"/>
            <a:ext cx="4069080" cy="3063240"/>
          </a:xfrm>
          <a:prstGeom prst="rect">
            <a:avLst/>
          </a:prstGeom>
          <a:solidFill>
            <a:srgbClr val="E8EDF9"/>
          </a:solidFill>
          <a:ln w="19050">
            <a:solidFill>
              <a:srgbClr val="CA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17720" y="1627632"/>
            <a:ext cx="82296" cy="3063240"/>
          </a:xfrm>
          <a:prstGeom prst="rect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719072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20640" y="171907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33A0"/>
                </a:solidFill>
              </a:rPr>
              <a:t>RULES FOR NEXT TIME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773168" y="2212848"/>
            <a:ext cx="201168" cy="201168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773168" y="2212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047488" y="21214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Run discovery before every proposal — qualify budget authority in the first call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773168" y="2715768"/>
            <a:ext cx="201168" cy="201168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773168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047488" y="26243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Ask the budget question directly: 'What envelope has been approved for this initiative?'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773168" y="3218688"/>
            <a:ext cx="201168" cy="201168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773168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047488" y="31272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Never send a proposal more than 30% above stated budget without an ROI bridge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773168" y="3721608"/>
            <a:ext cx="201168" cy="201168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773168" y="3721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5047488" y="36301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Get CISO or IT Director on record before mid-stage — no single-contact deals above $50K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4773168" y="4224528"/>
            <a:ext cx="201168" cy="201168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773168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047488" y="41330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If budget gap exists, reframe scope as Phase 1 — not a discounted version of the same thing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1040"/>
          </a:solidFill>
          <a:ln w="12700">
            <a:solidFill>
              <a:srgbClr val="00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7BA7E0"/>
                </a:solidFill>
              </a:rPr>
              <a:t>SOPHOS  |  DEALTRACE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ED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Every loss leaves a clue.</a:t>
            </a:r>
            <a:endParaRPr lang="en-US" sz="1800" dirty="0">
              <a:solidFill>
                <a:srgbClr val="00ED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1005840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Learn it.</a:t>
            </a:r>
            <a:endParaRPr lang="en-US" sz="42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Don't repeat it.</a:t>
            </a:r>
            <a:endParaRPr lang="en-US" sz="42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06040" cy="1463040"/>
          </a:xfrm>
          <a:prstGeom prst="rect">
            <a:avLst/>
          </a:prstGeom>
          <a:solidFill>
            <a:srgbClr val="001A47"/>
          </a:solidFill>
          <a:ln w="19050" cap="flat" cmpd="sng">
            <a:solidFill>
              <a:srgbClr val="00EDFF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606040"/>
                      <a:gd name="csY0" fmla="*/ 0 h 1463040"/>
                      <a:gd name="csX1" fmla="*/ 495148 w 2606040"/>
                      <a:gd name="csY1" fmla="*/ 0 h 1463040"/>
                      <a:gd name="csX2" fmla="*/ 938174 w 2606040"/>
                      <a:gd name="csY2" fmla="*/ 0 h 1463040"/>
                      <a:gd name="csX3" fmla="*/ 1511503 w 2606040"/>
                      <a:gd name="csY3" fmla="*/ 0 h 1463040"/>
                      <a:gd name="csX4" fmla="*/ 2006651 w 2606040"/>
                      <a:gd name="csY4" fmla="*/ 0 h 1463040"/>
                      <a:gd name="csX5" fmla="*/ 2606040 w 2606040"/>
                      <a:gd name="csY5" fmla="*/ 0 h 1463040"/>
                      <a:gd name="csX6" fmla="*/ 2606040 w 2606040"/>
                      <a:gd name="csY6" fmla="*/ 516941 h 1463040"/>
                      <a:gd name="csX7" fmla="*/ 2606040 w 2606040"/>
                      <a:gd name="csY7" fmla="*/ 1004621 h 1463040"/>
                      <a:gd name="csX8" fmla="*/ 2606040 w 2606040"/>
                      <a:gd name="csY8" fmla="*/ 1463040 h 1463040"/>
                      <a:gd name="csX9" fmla="*/ 2136953 w 2606040"/>
                      <a:gd name="csY9" fmla="*/ 1463040 h 1463040"/>
                      <a:gd name="csX10" fmla="*/ 1615745 w 2606040"/>
                      <a:gd name="csY10" fmla="*/ 1463040 h 1463040"/>
                      <a:gd name="csX11" fmla="*/ 1094537 w 2606040"/>
                      <a:gd name="csY11" fmla="*/ 1463040 h 1463040"/>
                      <a:gd name="csX12" fmla="*/ 599389 w 2606040"/>
                      <a:gd name="csY12" fmla="*/ 1463040 h 1463040"/>
                      <a:gd name="csX13" fmla="*/ 0 w 2606040"/>
                      <a:gd name="csY13" fmla="*/ 1463040 h 1463040"/>
                      <a:gd name="csX14" fmla="*/ 0 w 2606040"/>
                      <a:gd name="csY14" fmla="*/ 946099 h 1463040"/>
                      <a:gd name="csX15" fmla="*/ 0 w 2606040"/>
                      <a:gd name="csY15" fmla="*/ 429158 h 1463040"/>
                      <a:gd name="csX16" fmla="*/ 0 w 2606040"/>
                      <a:gd name="csY16" fmla="*/ 0 h 14630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606040" h="1463040" extrusionOk="0">
                        <a:moveTo>
                          <a:pt x="0" y="0"/>
                        </a:moveTo>
                        <a:cubicBezTo>
                          <a:pt x="214860" y="-38859"/>
                          <a:pt x="339998" y="26185"/>
                          <a:pt x="495148" y="0"/>
                        </a:cubicBezTo>
                        <a:cubicBezTo>
                          <a:pt x="650298" y="-26185"/>
                          <a:pt x="737574" y="9420"/>
                          <a:pt x="938174" y="0"/>
                        </a:cubicBezTo>
                        <a:cubicBezTo>
                          <a:pt x="1138774" y="-9420"/>
                          <a:pt x="1314908" y="50080"/>
                          <a:pt x="1511503" y="0"/>
                        </a:cubicBezTo>
                        <a:cubicBezTo>
                          <a:pt x="1708098" y="-50080"/>
                          <a:pt x="1899332" y="54034"/>
                          <a:pt x="2006651" y="0"/>
                        </a:cubicBezTo>
                        <a:cubicBezTo>
                          <a:pt x="2113970" y="-54034"/>
                          <a:pt x="2319329" y="6542"/>
                          <a:pt x="2606040" y="0"/>
                        </a:cubicBezTo>
                        <a:cubicBezTo>
                          <a:pt x="2632475" y="225188"/>
                          <a:pt x="2585056" y="337814"/>
                          <a:pt x="2606040" y="516941"/>
                        </a:cubicBezTo>
                        <a:cubicBezTo>
                          <a:pt x="2627024" y="696068"/>
                          <a:pt x="2548602" y="831815"/>
                          <a:pt x="2606040" y="1004621"/>
                        </a:cubicBezTo>
                        <a:cubicBezTo>
                          <a:pt x="2663478" y="1177427"/>
                          <a:pt x="2576331" y="1293974"/>
                          <a:pt x="2606040" y="1463040"/>
                        </a:cubicBezTo>
                        <a:cubicBezTo>
                          <a:pt x="2495772" y="1464324"/>
                          <a:pt x="2303078" y="1458897"/>
                          <a:pt x="2136953" y="1463040"/>
                        </a:cubicBezTo>
                        <a:cubicBezTo>
                          <a:pt x="1970828" y="1467183"/>
                          <a:pt x="1822147" y="1409805"/>
                          <a:pt x="1615745" y="1463040"/>
                        </a:cubicBezTo>
                        <a:cubicBezTo>
                          <a:pt x="1409343" y="1516275"/>
                          <a:pt x="1207881" y="1438617"/>
                          <a:pt x="1094537" y="1463040"/>
                        </a:cubicBezTo>
                        <a:cubicBezTo>
                          <a:pt x="981193" y="1487463"/>
                          <a:pt x="837448" y="1449788"/>
                          <a:pt x="599389" y="1463040"/>
                        </a:cubicBezTo>
                        <a:cubicBezTo>
                          <a:pt x="361330" y="1476292"/>
                          <a:pt x="122996" y="1453235"/>
                          <a:pt x="0" y="1463040"/>
                        </a:cubicBezTo>
                        <a:cubicBezTo>
                          <a:pt x="-37582" y="1327227"/>
                          <a:pt x="46671" y="1140257"/>
                          <a:pt x="0" y="946099"/>
                        </a:cubicBezTo>
                        <a:cubicBezTo>
                          <a:pt x="-46671" y="751941"/>
                          <a:pt x="21980" y="657641"/>
                          <a:pt x="0" y="429158"/>
                        </a:cubicBezTo>
                        <a:cubicBezTo>
                          <a:pt x="-21980" y="200675"/>
                          <a:pt x="37264" y="20112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" y="2852928"/>
            <a:ext cx="365760" cy="365760"/>
          </a:xfrm>
          <a:prstGeom prst="ellipse">
            <a:avLst/>
          </a:prstGeom>
          <a:solidFill>
            <a:srgbClr val="D63031"/>
          </a:solidFill>
          <a:ln w="12700">
            <a:solidFill>
              <a:srgbClr val="D630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1693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3031"/>
                </a:solidFill>
              </a:rPr>
              <a:t>Qualify First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3291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E8"/>
                </a:solidFill>
              </a:rPr>
              <a:t>Budget authority must be confirmed before any proposal leaves your desk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2743200"/>
            <a:ext cx="2606040" cy="1463040"/>
          </a:xfrm>
          <a:prstGeom prst="rect">
            <a:avLst/>
          </a:prstGeom>
          <a:solidFill>
            <a:srgbClr val="001A47"/>
          </a:solidFill>
          <a:ln w="19050">
            <a:solidFill>
              <a:srgbClr val="00ED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410712" y="2852928"/>
            <a:ext cx="365760" cy="365760"/>
          </a:xfrm>
          <a:prstGeom prst="ellipse">
            <a:avLst/>
          </a:prstGeom>
          <a:solidFill>
            <a:srgbClr val="0033A0"/>
          </a:solidFill>
          <a:ln w="12700">
            <a:solidFill>
              <a:srgbClr val="003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916936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048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3A0"/>
                </a:solidFill>
              </a:rPr>
              <a:t>Find the Power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10712" y="3291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E8"/>
                </a:solidFill>
              </a:rPr>
              <a:t>Single contact deals above $50K almost never close — get to the CISO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35040" y="2743200"/>
            <a:ext cx="2606040" cy="1463040"/>
          </a:xfrm>
          <a:prstGeom prst="rect">
            <a:avLst/>
          </a:prstGeom>
          <a:solidFill>
            <a:srgbClr val="0A1840"/>
          </a:solidFill>
          <a:ln w="19050">
            <a:solidFill>
              <a:srgbClr val="00ED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99632" y="285292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91693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2852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Frame the Value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99632" y="3291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DE8"/>
                </a:solidFill>
              </a:rPr>
              <a:t>Lead with TCO and breach risk reduction before revealing the price tag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320040" y="4480560"/>
            <a:ext cx="85039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7BA7E0"/>
                </a:solidFill>
              </a:rPr>
              <a:t>Sophos Confidential  |  DealTrace AI Engine  |  Not for external distribution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1019</Words>
  <Application>Microsoft Macintosh PowerPoint</Application>
  <PresentationFormat>On-screen Show (16:9)</PresentationFormat>
  <Paragraphs>189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DealTrace Case Study — Howard Hamlin &amp; Associates (Lost)</dc:title>
  <dc:subject>PptxGenJS Presentation</dc:subject>
  <dc:creator>PptxGenJS</dc:creator>
  <cp:lastModifiedBy>Nicaela Cabuhat</cp:lastModifiedBy>
  <cp:revision>5</cp:revision>
  <dcterms:created xsi:type="dcterms:W3CDTF">2026-04-07T09:56:02Z</dcterms:created>
  <dcterms:modified xsi:type="dcterms:W3CDTF">2026-04-07T15:10:57Z</dcterms:modified>
</cp:coreProperties>
</file>