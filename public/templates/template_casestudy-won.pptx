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3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5" r:id="rId2"/>
    <p:sldMasterId id="2147483721" r:id="rId3"/>
    <p:sldMasterId id="2147483755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DFF"/>
    <a:srgbClr val="2006F7"/>
    <a:srgbClr val="001E5E"/>
    <a:srgbClr val="001A47"/>
    <a:srgbClr val="00F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6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98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E5A996-950F-3207-8080-2C1A47BE0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369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127A34-C1BA-2EB9-7A58-73A73A859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586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E857BA5-0A31-FB59-FDA4-15B0D9E4895B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DF8109-2FC3-BF55-D474-1D4BF37CD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27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07B3BE-D795-2D18-739D-40BC5E77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315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477097-F737-55A1-7753-80463BFB5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812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A60FC-B4B9-6C77-F18E-DC1AC957D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576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2F2700-9EFE-9D3A-578D-7E356776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884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9F2A77-9BE4-F3B1-6206-1475D5C86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FF721A-1B21-4DCC-56F6-88E02ED45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05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12506" y="-6757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3744874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6DB7-DC6F-AF54-98CF-09B519983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00151"/>
            <a:ext cx="3744516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39133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5778625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B4BDC39-EC0B-795E-818D-54DC0C575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127BAE-B773-9CE4-CBB4-DC6488CCA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793" y="1200151"/>
            <a:ext cx="5785732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7F9CD6-9F85-30E1-3524-C0D9CF1C1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94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CA312D7-A283-8E90-143B-657FFDD4A8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7551" y="350007"/>
            <a:ext cx="3799811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EC1B168-FF74-96E6-6DFE-EAF404DF1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7551" y="1200151"/>
            <a:ext cx="379981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C87313-0487-3E74-2FE2-037EEA2AC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734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DDC057-8C27-307A-DC20-2AF06A3950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3331" y="350007"/>
            <a:ext cx="592403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924CCD-3AAF-3DA1-F15F-C08A2D110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ABC922-5CBC-A1DE-F8D1-403A37E27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9F08BE-BE92-7C0B-A93F-5A8827A77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3331" y="1200151"/>
            <a:ext cx="592403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8A348B-889D-8478-3476-7467D86DB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748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561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4B75E1-80F5-C15E-43A9-26CE929CC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CF3E18-EAB5-82F4-3472-BDF8D5015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2FF055-BBDC-4E3F-7639-B7B26FFF6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179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4107-EA90-D471-9154-2413E4BF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A23EE42-2ED4-79CC-F29C-75EBD6E32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BB0A07-1EDC-9F2E-5AA8-980AB48A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DF6E-7490-7B90-875A-CFC772EC9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B5DBAB-76D0-F721-7282-D4B75EC68D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106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B7FB3B-9948-711B-23F4-FBD5AF972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071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67CC83-162E-EC7D-89BF-D64051E009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4689EB-026F-A072-F93E-9644B1644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855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7CD34E-57CF-3E9A-0689-179A29B080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0AF283-0971-9CB4-CBFC-DE62DDF75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095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94274-4D8D-CAD1-9760-C1CF3442FA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A8571C-CE49-F05D-8395-B12FCE954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7960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1100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0988D42-B6AD-566A-3B5D-67EC269D2D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F692FA1-ACD2-DC6E-9004-D8E6427E3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8724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3688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0641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D95D5E-1E7F-8B3B-DAD4-59101FC43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1C694C3-F9D1-7391-B355-255E905AE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F1A51800-5BF5-3B33-8421-4834153217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41705" y="2780496"/>
            <a:ext cx="1915558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A52D5F2-82EB-D052-F6ED-B3686CEA3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33EB124F-4413-C191-FC20-51466493BC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0495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3C695E31-0CEA-94C2-7D54-DBC6C2609F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8419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C7FB8F5-309D-77E3-DB8F-80A19B31F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9411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2663" y="2780496"/>
            <a:ext cx="260450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04003FDA-B27B-3EA2-CC4A-B44477B7CF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6159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F3F2B8-4E8D-AA03-0A05-C725C663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2B3276-C94B-4AA8-F0D7-65389355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DF15BA2-0669-9288-87E3-5E30CF2820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7633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72BAF-5F76-7D02-D937-C8C722220A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2647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CF8A2E3-9E56-602D-AD93-035C8899A4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52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D2185E-DB11-5BEB-DFA5-652AA60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1196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5320" y="1595463"/>
            <a:ext cx="402677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415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7FC0CF-2162-02A9-75F3-0F7554153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CB7E-F7A3-8973-4F16-8760BD16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4D1021-A57D-9F79-E4A8-91DE3CC1C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3110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4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1820368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2815383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EF414B-B76F-1C09-2D40-0178E50862A7}"/>
              </a:ext>
            </a:extLst>
          </p:cNvPr>
          <p:cNvSpPr/>
          <p:nvPr/>
        </p:nvSpPr>
        <p:spPr>
          <a:xfrm>
            <a:off x="342899" y="3810399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5B7546B-97A6-91E1-11DC-D41D9AD8C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037833-A386-3FBE-AF28-4F64F607A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1D73E48-E44A-4341-D4DD-CC783EA78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8AC37DC-A2DF-C76E-935C-809BE182F3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1" y="1878637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52641F7-2ED7-31B4-8F75-E03C86AC9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1" y="2882752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718B658-BDF5-F08D-923F-5B85262611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1" y="3876651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9E5923-9E71-2185-B11F-02E151DB8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2251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F9DCC3-0217-504A-3708-4C157AEB6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C33B51-ADB0-70E1-105D-B31755420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386C1A6-582D-41E9-B2DA-85418E437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2DB422F-8F6B-C45B-D44D-3F705EAFA9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14011" y="2217080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146F7C6-084B-40BE-FA5B-CD7C89C5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14011" y="3556176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6F18CC-AB4B-CD70-7745-2221452BA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1792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987A8F-9F49-4ABB-DD1D-C86371BE9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7A3CD2-EB8C-DFE3-2760-3C5072967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1402C0-341A-B663-4CA9-E155C93DD6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96071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AD1BBE-E64D-2DC6-A4F2-259D8ACA82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14011" y="289194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F02C42-6680-32F4-4A45-C29EE7A4E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3105" y="981816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74ABA3A-D851-C1A9-F4E4-D3620CB27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105" y="2922297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45C90E-396F-2F75-9562-8307F0C4F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24806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D6D086D-C3A8-029A-FFD8-918F558A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48405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DFF1EC-E7D6-9E21-8BF6-07C8A7F169C3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CFDF44C-4870-59E4-3EA3-FE4CAEC938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EA782C76-E8CB-60C8-93A6-C26CD0810E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25627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08304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7337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504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39479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A29F51-2836-1F8B-4A6F-1B4B3B64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8367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AE5B87-875E-0DB0-C395-3AAFDE8EB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18014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55B361-3D67-1162-5921-18373D32D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98378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5720A-4A8C-BF19-A779-937DEC564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46351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8E5CE7-7AAC-F710-2E56-E1F4D4681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60184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51A147-0561-530C-EE7A-5D96635E2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45812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D49E17-3829-7707-8E1E-4A4213790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5763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>
            <a:extLst>
              <a:ext uri="{FF2B5EF4-FFF2-40B4-BE49-F238E27FC236}">
                <a16:creationId xmlns:a16="http://schemas.microsoft.com/office/drawing/2014/main" id="{45A62201-6D19-6B53-6FB2-2F0F8F0D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2E15D3-3D72-6A9C-ACAA-26A19EEE5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CE380E-818B-ECC9-2220-405987399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B1721B3-D41A-3B85-5656-4507E8BD1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E472F6-F4D2-41FC-481A-FFF212477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838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9128" y="-3379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3724604" cy="666914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29D23C8-AE78-AA2F-2EF1-272994A86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3724604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409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5768490" cy="3345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BF396B-3A98-C290-46A5-02F810DD6A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17166C-1EB0-D57B-6C6C-4351D6D29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72" y="1200150"/>
            <a:ext cx="5763319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5FE29A-A3FC-BBE6-EA91-CB25D8224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701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939" y="350007"/>
            <a:ext cx="3799517" cy="66691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B5D062-0C3C-9355-6284-2710B3D96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FDC43E-6E1A-1AF1-B31A-725ACF130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7795" y="1200150"/>
            <a:ext cx="3806660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7A581-D528-7604-9E52-8F957911C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693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880" y="350007"/>
            <a:ext cx="5903576" cy="33451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24DD56-B193-BE5E-77C3-DF1119C5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16DBD9-83C5-7764-85A1-5548CB05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F9B0292-5027-01E0-9673-CAEE53704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945662-09B0-EAE0-DE38-875FE456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0880" y="1200150"/>
            <a:ext cx="5903576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AF979F-9B80-5787-0DEC-DFEB27FFE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895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863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016E5A-F518-E463-AA5F-B111299EB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70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323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301952-7875-E974-88DC-05BC4E231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82FC06-65C5-C3AE-3F79-04CDB10E2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71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4B94FA-4156-ABE1-D825-A79F717BB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12ACB5-9768-E2DE-9A5C-581EE3925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838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31018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9460920-1EA2-0EB7-5238-66FBB7C0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DB3BD0E-CF3E-F51E-6109-3C6B2CA8E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B798B31-05CB-5AE1-7664-041E60B0A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071F32-49DB-B3CE-B5A2-5DC12EB13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84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ACCCA8-478F-16C6-2E53-EEFADBFC8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875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CCD947-1AC0-6DF3-35A8-66F277338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043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6A87-81B5-64C8-9703-DFFC9BB7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EED7E77-8404-B77D-F5CE-3814253FB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F9BC80-D743-CB74-F260-AAFD0B1907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05113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D7E8D9-0941-556A-AF97-01E2A4A49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2539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D0D511F-3C84-BE94-B677-F4B366F0EC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8027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460AE6-0038-4814-98AC-0522C0C68F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05113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FFAFF50-A9D1-98C0-76A5-3B0A583389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2539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B23E5E4-BA4A-368C-65B0-85BAB18A7B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8027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F628DB2-6F21-8074-B54E-43E248ABAC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05113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B5C2DF-05D9-765B-8B58-72ED282EA4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540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9E797-0DED-57E2-3231-A2B165D055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03624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FF0F84C-AAE6-A813-1E26-CDCF133E38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05113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3C070B6-C4E2-BEBA-F9FF-63CD0BFDF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52540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F7A6E256-7B17-BB72-88C1-111CFB5192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03624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60BCC9-69BB-9B86-8C30-B5B790F2C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617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Dark">
    <p:bg>
      <p:bgPr>
        <a:gradFill flip="none" rotWithShape="1">
          <a:gsLst>
            <a:gs pos="0">
              <a:schemeClr val="tx1"/>
            </a:gs>
            <a:gs pos="87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3EE30E-5CCA-CDB1-8748-DBF735C0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B679B0E-2D51-708F-7307-EE6B54D0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D8149D17-1FDD-279D-46FD-9B8E31FA16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026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C11674-BBF6-F5DA-7EC6-9943383AF3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06808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B175DA0-234F-0FFA-4CB7-1A05A1857F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0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E76998A8-604C-E0C7-B968-06AD57ACC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4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E3E68CA-A050-67CB-BBA6-B15831D56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4879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9A3DB42-306E-F996-3DAD-D19C3506D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A25632-46FA-5687-F84F-9F4D1D48B5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0680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70D5DB0-C58F-5B6E-45D3-25246CCE0D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2825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AE1EBB8-7A17-D817-6791-07EDFB3E9B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34801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A841459-966D-786B-97FC-85BF9D70D1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879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A113765-B380-B5DC-CA33-4EE4052F7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38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Dark">
    <p:bg>
      <p:bgPr>
        <a:gradFill flip="none" rotWithShape="1">
          <a:gsLst>
            <a:gs pos="0">
              <a:schemeClr val="tx1"/>
            </a:gs>
            <a:gs pos="100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0A669D3-A1BA-506C-C25A-95BED032B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03AB805-16C9-7F24-B8AD-3BD827E40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E1078C9-3137-3782-9652-7E9269EA6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FECCC06-262D-3988-7178-6CFA139AD5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348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08F657-ED7A-8434-FAC9-5979613304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80495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6036C-AADC-FCF6-D250-67F5548C91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28419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15648E-7592-19E3-2A9A-9EB627C66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55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E40D46B-C74E-76C3-1B3C-4805FD9991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72663" y="1595463"/>
            <a:ext cx="260731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AE7D4-0265-49FF-BBC3-EE913115B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1F11588-ACDE-905E-3D08-E556EDAD54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6160" y="1595463"/>
            <a:ext cx="261341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E76D8EA-DA7B-7E92-3246-E0E5A9C7C6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B0BFC43-FF1B-02FE-6093-5016E7B4E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2662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CCCD3AD-95A1-4E45-3FE6-57CA7C04EF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46159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27E54AF-DD39-578A-5731-579F5BF69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816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3FFBD2E-1933-89C8-3F4D-F8165FD70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01388C-5008-3331-C983-CBAA51A7B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9BBD389-8D30-45FE-F582-CBCBEAAE8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1762" y="1595463"/>
            <a:ext cx="403681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04EAACC-428A-372A-0221-BB5FFD9906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762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C79DD-4611-E472-094B-A7C5C7F5C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51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4CE18A-BB9E-B0C9-6773-4A34424BA5EF}"/>
              </a:ext>
            </a:extLst>
          </p:cNvPr>
          <p:cNvGrpSpPr/>
          <p:nvPr/>
        </p:nvGrpSpPr>
        <p:grpSpPr>
          <a:xfrm>
            <a:off x="342899" y="825354"/>
            <a:ext cx="8462886" cy="3897545"/>
            <a:chOff x="457199" y="1100471"/>
            <a:chExt cx="11283848" cy="5510429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EE909EF3-1270-87AC-1847-5559277C1109}"/>
                </a:ext>
              </a:extLst>
            </p:cNvPr>
            <p:cNvSpPr/>
            <p:nvPr/>
          </p:nvSpPr>
          <p:spPr>
            <a:xfrm>
              <a:off x="457199" y="1100471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225377C4-8991-D9F5-C252-278448BFE05E}"/>
                </a:ext>
              </a:extLst>
            </p:cNvPr>
            <p:cNvSpPr/>
            <p:nvPr/>
          </p:nvSpPr>
          <p:spPr>
            <a:xfrm>
              <a:off x="457199" y="2507243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8AF6D432-B627-261A-8107-51B4E11D789F}"/>
                </a:ext>
              </a:extLst>
            </p:cNvPr>
            <p:cNvSpPr/>
            <p:nvPr/>
          </p:nvSpPr>
          <p:spPr>
            <a:xfrm>
              <a:off x="457199" y="3914015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3EF414B-B76F-1C09-2D40-0178E50862A7}"/>
                </a:ext>
              </a:extLst>
            </p:cNvPr>
            <p:cNvSpPr/>
            <p:nvPr/>
          </p:nvSpPr>
          <p:spPr>
            <a:xfrm>
              <a:off x="457199" y="5320788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2DD874-B085-AAE0-DBDC-9209B66723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356AD9E-9C43-2D3D-F48A-F0060679EA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187863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716768C-AE2E-6B15-AC8E-A70F3C7180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2870835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06A68AE-DB44-677D-7A12-6BE7AFD499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14012" y="3876176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D2A7F4-0620-A78E-D267-A3D82177F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62420"/>
      </p:ext>
    </p:extLst>
  </p:cSld>
  <p:clrMapOvr>
    <a:masterClrMapping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51E46E7-000F-6874-DB60-40FA21C189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6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1ED448D-92F8-4A65-049F-54E6AA3BD2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217230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9A82A07-9D03-34F6-895F-7127EF4E36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3556908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9FA6AF-E3C2-3E06-9FD3-3AD1A541B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86380"/>
      </p:ext>
    </p:extLst>
  </p:cSld>
  <p:clrMapOvr>
    <a:masterClrMapping/>
  </p:clrMapOvr>
  <p:hf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BACBC6-C45C-1E6C-95F0-D4F85F9BF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A7BF5A-AA57-0EF3-780F-2F954402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50EC587-8D3D-5094-E00D-4B3C3878E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960714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BD98B8B-5EC1-8BC0-03D7-68D7E8AF32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931169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AC057AD-6831-48C5-02F6-C4F2E3AE8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01163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7B9C2D-3280-114E-DDAA-6139EFA42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93116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092A4C-7036-A139-ACFA-24179950B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18225"/>
      </p:ext>
    </p:extLst>
  </p:cSld>
  <p:clrMapOvr>
    <a:masterClrMapping/>
  </p:clrMapOvr>
  <p:hf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A2CBB73-988A-3A65-AFCB-3551DF97E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57389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C40939-ACE1-BF14-64B1-7309CF7AE4E8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174AB75-03C1-56B7-B1E7-2DD31A31B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995616A-2662-2461-92DC-2C3BC8B31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834415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570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313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993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745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8065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E5A996-950F-3207-8080-2C1A47BE0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43994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127A34-C1BA-2EB9-7A58-73A73A859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96026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1AF999A-B6EF-E80F-6D3B-B80E7F99D273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E970961-7F38-8C2A-43FC-0B0E832DAF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85027"/>
      </p:ext>
    </p:extLst>
  </p:cSld>
  <p:clrMapOvr>
    <a:masterClrMapping/>
  </p:clrMapOvr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07B3BE-D795-2D18-739D-40BC5E77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73282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477097-F737-55A1-7753-80463BFB5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26135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A60FC-B4B9-6C77-F18E-DC1AC957D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16086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2F2700-9EFE-9D3A-578D-7E356776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11667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9F2A77-9BE4-F3B1-6206-1475D5C86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FF721A-1B21-4DCC-56F6-88E02ED45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71961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12506" y="-6757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3744874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6DB7-DC6F-AF54-98CF-09B519983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00151"/>
            <a:ext cx="3744516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4294786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5778625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B4BDC39-EC0B-795E-818D-54DC0C575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127BAE-B773-9CE4-CBB4-DC6488CCA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793" y="1200151"/>
            <a:ext cx="5785732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7F9CD6-9F85-30E1-3524-C0D9CF1C1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29526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CA312D7-A283-8E90-143B-657FFDD4A8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7551" y="350007"/>
            <a:ext cx="3799811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EC1B168-FF74-96E6-6DFE-EAF404DF1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7551" y="1200151"/>
            <a:ext cx="379981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C87313-0487-3E74-2FE2-037EEA2AC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57717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DDC057-8C27-307A-DC20-2AF06A3950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3331" y="350007"/>
            <a:ext cx="592403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924CCD-3AAF-3DA1-F15F-C08A2D110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ABC922-5CBC-A1DE-F8D1-403A37E27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9F08BE-BE92-7C0B-A93F-5A8827A77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3331" y="1200151"/>
            <a:ext cx="592403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8A348B-889D-8478-3476-7467D86DB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90627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8234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4B75E1-80F5-C15E-43A9-26CE929CC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CF3E18-EAB5-82F4-3472-BDF8D5015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2FF055-BBDC-4E3F-7639-B7B26FFF6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61461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4107-EA90-D471-9154-2413E4BF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A23EE42-2ED4-79CC-F29C-75EBD6E32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BB0A07-1EDC-9F2E-5AA8-980AB48A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DF6E-7490-7B90-875A-CFC772EC9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B5DBAB-76D0-F721-7282-D4B75EC68D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106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B7FB3B-9948-711B-23F4-FBD5AF972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94152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67CC83-162E-EC7D-89BF-D64051E009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4689EB-026F-A072-F93E-9644B1644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32725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7CD34E-57CF-3E9A-0689-179A29B080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0AF283-0971-9CB4-CBFC-DE62DDF75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6367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94274-4D8D-CAD1-9760-C1CF3442FA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A8571C-CE49-F05D-8395-B12FCE954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27396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39137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0988D42-B6AD-566A-3B5D-67EC269D2D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F692FA1-ACD2-DC6E-9004-D8E6427E3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41159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18998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44608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D95D5E-1E7F-8B3B-DAD4-59101FC43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1C694C3-F9D1-7391-B355-255E905AE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F1A51800-5BF5-3B33-8421-4834153217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41705" y="2780496"/>
            <a:ext cx="1915558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A52D5F2-82EB-D052-F6ED-B3686CEA3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33EB124F-4413-C191-FC20-51466493BC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0495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3C695E31-0CEA-94C2-7D54-DBC6C2609F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8419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C7FB8F5-309D-77E3-DB8F-80A19B31F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17080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2663" y="2780496"/>
            <a:ext cx="260450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04003FDA-B27B-3EA2-CC4A-B44477B7CF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6159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F3F2B8-4E8D-AA03-0A05-C725C663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2B3276-C94B-4AA8-F0D7-65389355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DF15BA2-0669-9288-87E3-5E30CF2820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7633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72BAF-5F76-7D02-D937-C8C722220A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2647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CF8A2E3-9E56-602D-AD93-035C8899A4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52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D2185E-DB11-5BEB-DFA5-652AA60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12974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5320" y="1595463"/>
            <a:ext cx="402677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415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7FC0CF-2162-02A9-75F3-0F7554153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CB7E-F7A3-8973-4F16-8760BD16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4D1021-A57D-9F79-E4A8-91DE3CC1C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04115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4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1820368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2815383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EF414B-B76F-1C09-2D40-0178E50862A7}"/>
              </a:ext>
            </a:extLst>
          </p:cNvPr>
          <p:cNvSpPr/>
          <p:nvPr/>
        </p:nvSpPr>
        <p:spPr>
          <a:xfrm>
            <a:off x="342899" y="3810399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5B7546B-97A6-91E1-11DC-D41D9AD8C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037833-A386-3FBE-AF28-4F64F607A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1D73E48-E44A-4341-D4DD-CC783EA78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8AC37DC-A2DF-C76E-935C-809BE182F3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1" y="1878637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52641F7-2ED7-31B4-8F75-E03C86AC9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1" y="2882752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718B658-BDF5-F08D-923F-5B85262611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1" y="3876651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9E5923-9E71-2185-B11F-02E151DB8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96107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F9DCC3-0217-504A-3708-4C157AEB6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C33B51-ADB0-70E1-105D-B31755420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386C1A6-582D-41E9-B2DA-85418E437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2DB422F-8F6B-C45B-D44D-3F705EAFA9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14011" y="2217080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146F7C6-084B-40BE-FA5B-CD7C89C5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14011" y="3556176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6F18CC-AB4B-CD70-7745-2221452BA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97061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987A8F-9F49-4ABB-DD1D-C86371BE9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7A3CD2-EB8C-DFE3-2760-3C5072967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1402C0-341A-B663-4CA9-E155C93DD6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96071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AD1BBE-E64D-2DC6-A4F2-259D8ACA82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14011" y="289194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F02C42-6680-32F4-4A45-C29EE7A4E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3105" y="981816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74ABA3A-D851-C1A9-F4E4-D3620CB27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105" y="2922297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45C90E-396F-2F75-9562-8307F0C4F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17307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D6D086D-C3A8-029A-FFD8-918F558A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45686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DFF1EC-E7D6-9E21-8BF6-07C8A7F169C3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CFDF44C-4870-59E4-3EA3-FE4CAEC938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EA782C76-E8CB-60C8-93A6-C26CD0810E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927318"/>
      </p:ext>
    </p:extLst>
  </p:cSld>
  <p:clrMapOvr>
    <a:masterClrMapping/>
  </p:clrMapOvr>
  <p:hf sldNum="0"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2335"/>
      </p:ext>
    </p:extLst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13395"/>
      </p:ext>
    </p:extLst>
  </p:cSld>
  <p:clrMapOvr>
    <a:masterClrMapping/>
  </p:clrMapOvr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72229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A29F51-2836-1F8B-4A6F-1B4B3B64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66081"/>
      </p:ext>
    </p:extLst>
  </p:cSld>
  <p:clrMapOvr>
    <a:masterClrMapping/>
  </p:clrMapOvr>
  <p:hf sldNum="0"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AE5B87-875E-0DB0-C395-3AAFDE8EB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97783"/>
      </p:ext>
    </p:extLst>
  </p:cSld>
  <p:clrMapOvr>
    <a:masterClrMapping/>
  </p:clrMapOvr>
  <p:hf sldNum="0"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55B361-3D67-1162-5921-18373D32D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11599"/>
      </p:ext>
    </p:extLst>
  </p:cSld>
  <p:clrMapOvr>
    <a:masterClrMapping/>
  </p:clrMapOvr>
  <p:hf sldNum="0"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5720A-4A8C-BF19-A779-937DEC564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44468"/>
      </p:ext>
    </p:extLst>
  </p:cSld>
  <p:clrMapOvr>
    <a:masterClrMapping/>
  </p:clrMapOvr>
  <p:hf sldNum="0"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8E5CE7-7AAC-F710-2E56-E1F4D4681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90560"/>
      </p:ext>
    </p:extLst>
  </p:cSld>
  <p:clrMapOvr>
    <a:masterClrMapping/>
  </p:clrMapOvr>
  <p:hf sldNum="0"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51A147-0561-530C-EE7A-5D96635E2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7367"/>
      </p:ext>
    </p:extLst>
  </p:cSld>
  <p:clrMapOvr>
    <a:masterClrMapping/>
  </p:clrMapOvr>
  <p:hf sldNum="0"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D49E17-3829-7707-8E1E-4A4213790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39535"/>
      </p:ext>
    </p:extLst>
  </p:cSld>
  <p:clrMapOvr>
    <a:masterClrMapping/>
  </p:clrMapOvr>
  <p:hf sldNum="0"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>
            <a:extLst>
              <a:ext uri="{FF2B5EF4-FFF2-40B4-BE49-F238E27FC236}">
                <a16:creationId xmlns:a16="http://schemas.microsoft.com/office/drawing/2014/main" id="{45A62201-6D19-6B53-6FB2-2F0F8F0D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2E15D3-3D72-6A9C-ACAA-26A19EEE5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CE380E-818B-ECC9-2220-405987399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B1721B3-D41A-3B85-5656-4507E8BD1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E472F6-F4D2-41FC-481A-FFF212477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5692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9128" y="-3379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3724604" cy="666914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29D23C8-AE78-AA2F-2EF1-272994A86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3724604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996849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5768490" cy="3345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BF396B-3A98-C290-46A5-02F810DD6A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17166C-1EB0-D57B-6C6C-4351D6D29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72" y="1200150"/>
            <a:ext cx="5763319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5FE29A-A3FC-BBE6-EA91-CB25D8224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6410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939" y="350007"/>
            <a:ext cx="3799517" cy="66691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B5D062-0C3C-9355-6284-2710B3D96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FDC43E-6E1A-1AF1-B31A-725ACF130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7795" y="1200150"/>
            <a:ext cx="3806660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7A581-D528-7604-9E52-8F957911C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8027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880" y="350007"/>
            <a:ext cx="5903576" cy="33451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24DD56-B193-BE5E-77C3-DF1119C5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16DBD9-83C5-7764-85A1-5548CB05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F9B0292-5027-01E0-9673-CAEE53704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945662-09B0-EAE0-DE38-875FE456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0880" y="1200150"/>
            <a:ext cx="5903576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AF979F-9B80-5787-0DEC-DFEB27FFE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7741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3652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016E5A-F518-E463-AA5F-B111299EB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2154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1293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301952-7875-E974-88DC-05BC4E231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82FC06-65C5-C3AE-3F79-04CDB10E2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896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4B94FA-4156-ABE1-D825-A79F717BB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12ACB5-9768-E2DE-9A5C-581EE3925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690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31018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9460920-1EA2-0EB7-5238-66FBB7C0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DB3BD0E-CF3E-F51E-6109-3C6B2CA8E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B798B31-05CB-5AE1-7664-041E60B0A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071F32-49DB-B3CE-B5A2-5DC12EB13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4030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ACCCA8-478F-16C6-2E53-EEFADBFC8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8697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CCD947-1AC0-6DF3-35A8-66F277338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0348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6A87-81B5-64C8-9703-DFFC9BB7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EED7E77-8404-B77D-F5CE-3814253FB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F9BC80-D743-CB74-F260-AAFD0B1907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05113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D7E8D9-0941-556A-AF97-01E2A4A49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2539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D0D511F-3C84-BE94-B677-F4B366F0EC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8027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460AE6-0038-4814-98AC-0522C0C68F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05113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FFAFF50-A9D1-98C0-76A5-3B0A583389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2539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B23E5E4-BA4A-368C-65B0-85BAB18A7B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8027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F628DB2-6F21-8074-B54E-43E248ABAC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05113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B5C2DF-05D9-765B-8B58-72ED282EA4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540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9E797-0DED-57E2-3231-A2B165D055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03624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FF0F84C-AAE6-A813-1E26-CDCF133E38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05113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3C070B6-C4E2-BEBA-F9FF-63CD0BFDF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52540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F7A6E256-7B17-BB72-88C1-111CFB5192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03624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60BCC9-69BB-9B86-8C30-B5B790F2C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7777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Dark">
    <p:bg>
      <p:bgPr>
        <a:gradFill flip="none" rotWithShape="1">
          <a:gsLst>
            <a:gs pos="0">
              <a:schemeClr val="tx1"/>
            </a:gs>
            <a:gs pos="87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3EE30E-5CCA-CDB1-8748-DBF735C0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B679B0E-2D51-708F-7307-EE6B54D0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D8149D17-1FDD-279D-46FD-9B8E31FA16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026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C11674-BBF6-F5DA-7EC6-9943383AF3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06808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B175DA0-234F-0FFA-4CB7-1A05A1857F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0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E76998A8-604C-E0C7-B968-06AD57ACC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4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E3E68CA-A050-67CB-BBA6-B15831D56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4879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9A3DB42-306E-F996-3DAD-D19C3506D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A25632-46FA-5687-F84F-9F4D1D48B5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0680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70D5DB0-C58F-5B6E-45D3-25246CCE0D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2825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AE1EBB8-7A17-D817-6791-07EDFB3E9B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34801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A841459-966D-786B-97FC-85BF9D70D1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879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A113765-B380-B5DC-CA33-4EE4052F7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1990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Dark">
    <p:bg>
      <p:bgPr>
        <a:gradFill flip="none" rotWithShape="1">
          <a:gsLst>
            <a:gs pos="0">
              <a:schemeClr val="tx1"/>
            </a:gs>
            <a:gs pos="100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0A669D3-A1BA-506C-C25A-95BED032B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03AB805-16C9-7F24-B8AD-3BD827E40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E1078C9-3137-3782-9652-7E9269EA6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FECCC06-262D-3988-7178-6CFA139AD5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348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08F657-ED7A-8434-FAC9-5979613304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80495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6036C-AADC-FCF6-D250-67F5548C91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28419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15648E-7592-19E3-2A9A-9EB627C66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7294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E40D46B-C74E-76C3-1B3C-4805FD9991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72663" y="1595463"/>
            <a:ext cx="260731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AE7D4-0265-49FF-BBC3-EE913115B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1F11588-ACDE-905E-3D08-E556EDAD54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6160" y="1595463"/>
            <a:ext cx="261341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E76D8EA-DA7B-7E92-3246-E0E5A9C7C6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B0BFC43-FF1B-02FE-6093-5016E7B4E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2662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CCCD3AD-95A1-4E45-3FE6-57CA7C04EF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46159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27E54AF-DD39-578A-5731-579F5BF69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7596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3FFBD2E-1933-89C8-3F4D-F8165FD70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01388C-5008-3331-C983-CBAA51A7B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9BBD389-8D30-45FE-F582-CBCBEAAE8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1762" y="1595463"/>
            <a:ext cx="403681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04EAACC-428A-372A-0221-BB5FFD9906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762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C79DD-4611-E472-094B-A7C5C7F5C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6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4CE18A-BB9E-B0C9-6773-4A34424BA5EF}"/>
              </a:ext>
            </a:extLst>
          </p:cNvPr>
          <p:cNvGrpSpPr/>
          <p:nvPr/>
        </p:nvGrpSpPr>
        <p:grpSpPr>
          <a:xfrm>
            <a:off x="342899" y="825354"/>
            <a:ext cx="8462886" cy="3897545"/>
            <a:chOff x="457199" y="1100471"/>
            <a:chExt cx="11283848" cy="5510429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EE909EF3-1270-87AC-1847-5559277C1109}"/>
                </a:ext>
              </a:extLst>
            </p:cNvPr>
            <p:cNvSpPr/>
            <p:nvPr/>
          </p:nvSpPr>
          <p:spPr>
            <a:xfrm>
              <a:off x="457199" y="1100471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225377C4-8991-D9F5-C252-278448BFE05E}"/>
                </a:ext>
              </a:extLst>
            </p:cNvPr>
            <p:cNvSpPr/>
            <p:nvPr/>
          </p:nvSpPr>
          <p:spPr>
            <a:xfrm>
              <a:off x="457199" y="2507243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8AF6D432-B627-261A-8107-51B4E11D789F}"/>
                </a:ext>
              </a:extLst>
            </p:cNvPr>
            <p:cNvSpPr/>
            <p:nvPr/>
          </p:nvSpPr>
          <p:spPr>
            <a:xfrm>
              <a:off x="457199" y="3914015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3EF414B-B76F-1C09-2D40-0178E50862A7}"/>
                </a:ext>
              </a:extLst>
            </p:cNvPr>
            <p:cNvSpPr/>
            <p:nvPr/>
          </p:nvSpPr>
          <p:spPr>
            <a:xfrm>
              <a:off x="457199" y="5320788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2DD874-B085-AAE0-DBDC-9209B66723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356AD9E-9C43-2D3D-F48A-F0060679EA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187863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716768C-AE2E-6B15-AC8E-A70F3C7180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2870835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06A68AE-DB44-677D-7A12-6BE7AFD499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14012" y="3876176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D2A7F4-0620-A78E-D267-A3D82177F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62273"/>
      </p:ext>
    </p:extLst>
  </p:cSld>
  <p:clrMapOvr>
    <a:masterClrMapping/>
  </p:clrMapOvr>
  <p:hf hd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51E46E7-000F-6874-DB60-40FA21C189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6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1ED448D-92F8-4A65-049F-54E6AA3BD2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217230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9A82A07-9D03-34F6-895F-7127EF4E36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3556908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9FA6AF-E3C2-3E06-9FD3-3AD1A541B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14216"/>
      </p:ext>
    </p:extLst>
  </p:cSld>
  <p:clrMapOvr>
    <a:masterClrMapping/>
  </p:clrMapOvr>
  <p:hf hd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BACBC6-C45C-1E6C-95F0-D4F85F9BF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A7BF5A-AA57-0EF3-780F-2F954402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50EC587-8D3D-5094-E00D-4B3C3878E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960714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BD98B8B-5EC1-8BC0-03D7-68D7E8AF32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931169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AC057AD-6831-48C5-02F6-C4F2E3AE8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01163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7B9C2D-3280-114E-DDAA-6139EFA42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93116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092A4C-7036-A139-ACFA-24179950B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66870"/>
      </p:ext>
    </p:extLst>
  </p:cSld>
  <p:clrMapOvr>
    <a:masterClrMapping/>
  </p:clrMapOvr>
  <p:hf hd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A2CBB73-988A-3A65-AFCB-3551DF97E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68303"/>
      </p:ext>
    </p:extLst>
  </p:cSld>
  <p:clrMapOvr>
    <a:masterClrMapping/>
  </p:clrMapOvr>
  <p:hf sldNum="0"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C40939-ACE1-BF14-64B1-7309CF7AE4E8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174AB75-03C1-56B7-B1E7-2DD31A31B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995616A-2662-2461-92DC-2C3BC8B31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15568"/>
      </p:ext>
    </p:extLst>
  </p:cSld>
  <p:clrMapOvr>
    <a:masterClrMapping/>
  </p:clrMapOvr>
  <p:hf sldNum="0"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960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6156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4700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0920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75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9.xml"/><Relationship Id="rId8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95.xml"/><Relationship Id="rId3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90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8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8" Type="http://schemas.openxmlformats.org/officeDocument/2006/relationships/slideLayout" Target="../slideLayouts/slideLayout7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27.xml"/><Relationship Id="rId3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24" Type="http://schemas.openxmlformats.org/officeDocument/2006/relationships/slideLayout" Target="../slideLayouts/slideLayout126.xml"/><Relationship Id="rId32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25.xml"/><Relationship Id="rId28" Type="http://schemas.openxmlformats.org/officeDocument/2006/relationships/slideLayout" Target="../slideLayouts/slideLayout130.xml"/><Relationship Id="rId36" Type="http://schemas.openxmlformats.org/officeDocument/2006/relationships/theme" Target="../theme/theme4.xml"/><Relationship Id="rId10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1.xml"/><Relationship Id="rId31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24.xml"/><Relationship Id="rId27" Type="http://schemas.openxmlformats.org/officeDocument/2006/relationships/slideLayout" Target="../slideLayouts/slideLayout129.xml"/><Relationship Id="rId30" Type="http://schemas.openxmlformats.org/officeDocument/2006/relationships/slideLayout" Target="../slideLayouts/slideLayout132.xml"/><Relationship Id="rId35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5A6CFB-E096-4219-6C0B-8C175927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2BC72A-6F03-2B0E-8113-A1AE11B7A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7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accent4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rial" panose="020B0604020202020204" pitchFamily="34" charset="0"/>
        <a:buChar char="•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00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5A6CFB-E096-4219-6C0B-8C175927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2BC72A-6F03-2B0E-8113-A1AE11B7A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9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87" r:id="rId32"/>
    <p:sldLayoutId id="2147483788" r:id="rId33"/>
    <p:sldLayoutId id="2147483789" r:id="rId34"/>
    <p:sldLayoutId id="2147483790" r:id="rId3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accent4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rial" panose="020B0604020202020204" pitchFamily="34" charset="0"/>
        <a:buChar char="•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7">
            <a:alpha val="9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70337"/>
            <a:ext cx="2707595" cy="4402825"/>
          </a:xfrm>
          <a:prstGeom prst="rect">
            <a:avLst/>
          </a:prstGeom>
          <a:noFill/>
          <a:ln w="19050">
            <a:solidFill>
              <a:srgbClr val="00EDFF">
                <a:alpha val="84706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A7E0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30941" y="452629"/>
            <a:ext cx="564418" cy="274320"/>
          </a:xfrm>
          <a:prstGeom prst="rect">
            <a:avLst/>
          </a:prstGeom>
          <a:solidFill>
            <a:srgbClr val="00F00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86776" y="452629"/>
            <a:ext cx="50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✓  WON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145753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2000" dirty="0">
              <a:solidFill>
                <a:srgbClr val="00ED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Mirkwood Retail Group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1" y="304037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 ·  APAC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1" y="3424425"/>
            <a:ext cx="411480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82315" y="72694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DEAL VALUE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82315" y="92811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82315" y="154990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PRODUCT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82315" y="175107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 XDR + MDR Complete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2315" y="237286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DAYS TO CLOSE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82315" y="257403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2315" y="319582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SEATS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82315" y="339699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2315" y="401878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CLOSE DATE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82315" y="421995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14,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1" y="3653025"/>
            <a:ext cx="50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DE8"/>
                </a:solidFill>
              </a:rPr>
              <a:t>Rep: </a:t>
            </a:r>
            <a:r>
              <a:rPr lang="en-US" sz="1200" dirty="0">
                <a:solidFill>
                  <a:srgbClr val="FFFFFF"/>
                </a:solidFill>
              </a:rPr>
              <a:t>Nicaela Cabuhat  ·  Sales Engineer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0DE688-D165-87F4-F5E5-04FB12A0DAA4}"/>
              </a:ext>
            </a:extLst>
          </p:cNvPr>
          <p:cNvSpPr txBox="1"/>
          <p:nvPr/>
        </p:nvSpPr>
        <p:spPr>
          <a:xfrm>
            <a:off x="4151214" y="41269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marR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EDFF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</a:t>
            </a:r>
            <a:r>
              <a:rPr lang="en-US" sz="28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Snapshot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 of the closed deal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64008" cy="10058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Deal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3-Year Contract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42032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42032" y="1645920"/>
            <a:ext cx="64008" cy="100584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88336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88336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Days to Close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88336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From first email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26864" y="16459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73168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Seats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XDR + MDR Complete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11696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11696" y="1645920"/>
            <a:ext cx="64008" cy="100584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0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Emails in Thread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Full deal lifecycle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816352"/>
            <a:ext cx="4069080" cy="1874520"/>
          </a:xfrm>
          <a:prstGeom prst="rect">
            <a:avLst/>
          </a:prstGeom>
          <a:solidFill>
            <a:srgbClr val="E8EDF9"/>
          </a:solidFill>
          <a:ln w="12700">
            <a:solidFill>
              <a:srgbClr val="CA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2816352"/>
            <a:ext cx="73152" cy="187452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07792"/>
            <a:ext cx="256032" cy="25603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1440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33A0"/>
                </a:solidFill>
              </a:rPr>
              <a:t>ACCOUNT PROFILE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3218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Industry: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810512" y="3218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Retail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436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Region: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810512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APAC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9436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Company: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810512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200 employees · 12 locations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94360" y="4041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Product: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810512" y="4041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Sophos XDR + MDR Complete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94360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Deployment: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810512" y="4315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Cloud-managed via Sophos Central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09160" y="2816352"/>
            <a:ext cx="3977640" cy="1874520"/>
          </a:xfrm>
          <a:prstGeom prst="rect">
            <a:avLst/>
          </a:prstGeom>
          <a:solidFill>
            <a:srgbClr val="E6F7F1"/>
          </a:solidFill>
          <a:ln w="12700">
            <a:solidFill>
              <a:srgbClr val="A8D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709160" y="2816352"/>
            <a:ext cx="73152" cy="18745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07792"/>
            <a:ext cx="256032" cy="25603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16636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A86B"/>
                </a:solidFill>
              </a:rPr>
              <a:t>KEY STAKEHOLDERS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64608" y="3300984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138928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E5E"/>
                </a:solidFill>
              </a:rPr>
              <a:t>Legolas Greenleaf (VP IT)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4864608" y="364845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5138928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E5E"/>
                </a:solidFill>
              </a:rPr>
              <a:t>Gimli Gloinsson (IT Director)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4864608" y="3977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Trigger Event:  </a:t>
            </a:r>
            <a:r>
              <a:rPr lang="en-US" sz="950" dirty="0">
                <a:solidFill>
                  <a:srgbClr val="2D3748"/>
                </a:solidFill>
              </a:rPr>
              <a:t>EOL Fortinet appliances in 6 months — CISO pressure to remediate before audit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</a:t>
            </a:r>
            <a:r>
              <a:rPr lang="en-US" sz="28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Story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win unfolded —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cold outreach to signed contract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6504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4652" y="2121408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1664208"/>
            <a:ext cx="7680960" cy="502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78992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1773936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17520" y="1664208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EOL Fortinet appliances in 6 months — CISO pressure to remediate before audit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228600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4652" y="2706624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005840" y="2249424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078992" y="2249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First Signal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880360" y="2359152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017520" y="224942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Prospect replied same-day citing active internal concern about EOL hardware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16936"/>
            <a:ext cx="228600" cy="228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4652" y="3291840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1005840" y="2834640"/>
            <a:ext cx="7680960" cy="502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078992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A0"/>
                </a:solidFill>
              </a:rPr>
              <a:t>Champion Move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880360" y="2944368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017520" y="28346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Legolas proactively added Gimli (IT Director) in reply #4 — unprompted stakeholder expansion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02152"/>
            <a:ext cx="228600" cy="2286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44652" y="3877056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1005840" y="3419856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078992" y="34198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The Key Moment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880360" y="3529584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017520" y="341985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CISO approved proposal within 24 hours of submission — no negotiation required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4059936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87368"/>
            <a:ext cx="228600" cy="2286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005840" y="4005072"/>
            <a:ext cx="7680960" cy="502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1078992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Closing Action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2880360" y="4114800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3017520" y="400507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Rep sent countersigned order form same day; onboarding team engaged within 24 hours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57200" y="4590288"/>
            <a:ext cx="8229600" cy="164592"/>
          </a:xfrm>
          <a:prstGeom prst="rect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594360" y="459028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1E5E"/>
                </a:solidFill>
              </a:rPr>
              <a:t>"Nicaela moved faster than any vendor I've worked with. From first email to signed contract in 4 days — exactly what we needed before our audit."  — Legolas Greenleaf, VP IT — Mirkwood Retail Group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Timeline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from cold outreach to signed contract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8046720" cy="36576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268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Cold outreach sent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EOL firewall risk framing — no product pitch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5156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38528" y="253288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Day 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2588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Prospect replied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3444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Cited active EOL concern; requested call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5740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4436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Discovery call booked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4028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Rep + Retail Security Specialist confirmed for Day 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6324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50208" y="253288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16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Day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IT Director added to thread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4612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Stakeholder expansion — Gimli looped in by champion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06908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56048" y="2532888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6B"/>
                </a:solidFill>
              </a:rPr>
              <a:t>Day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4340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Discovery call held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5196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Technical questions on SIEM integration answered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7492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6188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4924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Proposal sent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5780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200-seat XDR deployment + 40% TCO vs Fortinet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076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67728" y="253288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Day 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CISO approved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6364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Unanimous — signed order form same day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8660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909560" y="2468880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2523744"/>
            <a:ext cx="256032" cy="25603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58952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6B"/>
                </a:solidFill>
              </a:rPr>
              <a:t>Day 4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36092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Deal closed ✓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26948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Onboarding team engaged within 24 hours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809244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2286000" y="4663440"/>
            <a:ext cx="146304" cy="14630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4871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Rep Action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114800" y="466344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3159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Prospect Action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943600" y="4663440"/>
            <a:ext cx="146304" cy="14630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1447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Milestone / Close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Win Signals Detected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Behavioral signals identified by DealTrace across this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4937760" cy="3063240"/>
          </a:xfrm>
          <a:prstGeom prst="rect">
            <a:avLst/>
          </a:prstGeom>
          <a:solidFill>
            <a:srgbClr val="E6F7F1"/>
          </a:solidFill>
          <a:ln w="19050">
            <a:solidFill>
              <a:srgbClr val="A8D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" cy="30632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6B"/>
                </a:solidFill>
              </a:rPr>
              <a:t>SIGNAL CHECKLIST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139696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57984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2066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Urgency Trigger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80360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EOL hardware + 6-month audit deadline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4360" y="2569464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87752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" y="2496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Same-Day Reply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880360" y="2496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Prospect replied within 2 hours of cold outreach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94360" y="2999232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Stakeholder Expansion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88036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IT Director added unprompted in reply #4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94360" y="3429000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47288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3355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No Price Objection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88036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Proposal accepted without pushback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94360" y="3858768"/>
            <a:ext cx="237744" cy="23774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77056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Fast Proposal Delivery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2880360" y="37856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Proposal sent within 24hrs of discovery call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4360" y="4288536"/>
            <a:ext cx="237744" cy="23774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06824"/>
            <a:ext cx="164592" cy="1645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4400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Competitor Mentioned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880360" y="4215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No competitor comparison required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577840" y="1627632"/>
            <a:ext cx="3108960" cy="306324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AABDE8"/>
                </a:solidFill>
              </a:rPr>
              <a:t>DEAL SCORE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6692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F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7200" dirty="0">
              <a:solidFill>
                <a:srgbClr val="00F00B"/>
              </a:solidFill>
            </a:endParaRPr>
          </a:p>
        </p:txBody>
      </p:sp>
      <p:sp>
        <p:nvSpPr>
          <p:cNvPr id="41" name="Text 33"/>
          <p:cNvSpPr/>
          <p:nvPr/>
        </p:nvSpPr>
        <p:spPr>
          <a:xfrm>
            <a:off x="566928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A7E0"/>
                </a:solidFill>
              </a:rPr>
              <a:t>/ 100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566928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 of 6 win signals present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760720" y="3703320"/>
            <a:ext cx="274320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5760720" y="3703320"/>
            <a:ext cx="2276856" cy="164592"/>
          </a:xfrm>
          <a:prstGeom prst="rect">
            <a:avLst/>
          </a:prstGeom>
          <a:solidFill>
            <a:srgbClr val="00F00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F00B"/>
              </a:solidFill>
            </a:endParaRPr>
          </a:p>
        </p:txBody>
      </p:sp>
      <p:sp>
        <p:nvSpPr>
          <p:cNvPr id="45" name="Text 37"/>
          <p:cNvSpPr/>
          <p:nvPr/>
        </p:nvSpPr>
        <p:spPr>
          <a:xfrm>
            <a:off x="5669280" y="3950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00B"/>
                </a:solidFill>
              </a:rPr>
              <a:t>HIGH CLOSE PROBABILITY</a:t>
            </a:r>
            <a:endParaRPr lang="en-US" sz="850" dirty="0">
              <a:solidFill>
                <a:srgbClr val="00F00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</a:t>
            </a:r>
            <a:r>
              <a:rPr lang="en-US" sz="28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Replicate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Proven actions from this win — apply to similar deals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1664208"/>
            <a:ext cx="76809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1664208"/>
            <a:ext cx="54864" cy="5120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33856" y="1682496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Lead with the problem, not the product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" y="1920240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The cold email mentioned EOL risk — not Sophos. Prospect self-identified.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22576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2249424"/>
            <a:ext cx="7680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2249424"/>
            <a:ext cx="54864" cy="5120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33856" y="2267712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Bring a specialist to the first call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" y="2505456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Retail Security Specialist joined Day 3 call — answered SIEM questions on the spot.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2834640"/>
            <a:ext cx="76809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840" y="2834640"/>
            <a:ext cx="54864" cy="5120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33856" y="28529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Send proposal within 24hrs of discovery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3856" y="3090672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No delay = no cooling off. Rep sent same-day after the call.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3419856"/>
            <a:ext cx="7680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05840" y="3419856"/>
            <a:ext cx="54864" cy="5120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3856" y="3438144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TCO framing beats price objections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" y="3675888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3-year TCO 40% below Fortinet stack — eliminated pricing as a conversation entirely.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5840" y="4005072"/>
            <a:ext cx="76809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05840" y="4005072"/>
            <a:ext cx="54864" cy="5120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33856" y="4023360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Let the champion expand the stakeholders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" y="4261104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Rep never asked for Gimli intro — Legolas added him unprompted after seeing value.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solidFill>
            <a:srgbClr val="E6F7F1"/>
          </a:solidFill>
          <a:ln w="12700">
            <a:solidFill>
              <a:srgbClr val="A8D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459943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1E5E"/>
                </a:solidFill>
              </a:rPr>
              <a:t>💡  These patterns are extracted from the email thread by DealTrace — use them as your pre-call checklist for similar deals.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2006F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WON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Mirkwood Retail Group  |  March 14,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658368"/>
            <a:ext cx="502920" cy="4233667"/>
          </a:xfrm>
          <a:prstGeom prst="rect">
            <a:avLst/>
          </a:prstGeom>
          <a:solidFill>
            <a:srgbClr val="2006F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7BA7E0"/>
                </a:solidFill>
              </a:rPr>
              <a:t>CUSTOMER VOICE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2527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00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>
              <a:solidFill>
                <a:srgbClr val="00ED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Nicaela moved faster than any vendor I've worked with. From first email to signed contract in 4 days — exactly what we needed before our audit.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— Legolas Greenleaf, VP IT — Mirkwood Retail 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401568"/>
            <a:ext cx="777240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$142,000</a:t>
            </a:r>
            <a:endParaRPr lang="en-US" sz="2600" dirty="0">
              <a:solidFill>
                <a:srgbClr val="00ED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40599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Contract 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889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2600" dirty="0">
              <a:solidFill>
                <a:srgbClr val="00ED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88920" y="40599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Time to Close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>
              <a:solidFill>
                <a:srgbClr val="00ED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92040" y="40599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Price Objections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9516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24hrs</a:t>
            </a:r>
            <a:endParaRPr lang="en-US" sz="2600" dirty="0">
              <a:solidFill>
                <a:srgbClr val="00ED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95160" y="40599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Onboarding Start</a:t>
            </a:r>
            <a:endParaRPr lang="en-US" sz="9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F52AA8-EB13-23AD-EEEE-5A60A9A0B729}"/>
              </a:ext>
            </a:extLst>
          </p:cNvPr>
          <p:cNvSpPr txBox="1"/>
          <p:nvPr/>
        </p:nvSpPr>
        <p:spPr>
          <a:xfrm>
            <a:off x="5065614" y="38113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marR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EDFF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9617" y="4488247"/>
            <a:ext cx="9144000" cy="662940"/>
          </a:xfrm>
          <a:prstGeom prst="rect">
            <a:avLst/>
          </a:prstGeom>
          <a:solidFill>
            <a:srgbClr val="001040"/>
          </a:solidFill>
          <a:ln w="12700">
            <a:solidFill>
              <a:srgbClr val="00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A7E0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Pattern Applied →</a:t>
            </a:r>
            <a:endParaRPr lang="en-US" sz="1800" dirty="0">
              <a:solidFill>
                <a:srgbClr val="00ED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Closed Won.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457200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DE8"/>
                </a:solidFill>
              </a:rPr>
              <a:t>Apply these patterns to your next similar deal: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201168" cy="201168"/>
          </a:xfrm>
          <a:prstGeom prst="ellipse">
            <a:avLst/>
          </a:prstGeom>
          <a:noFill/>
          <a:ln w="1270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ED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Identify accounts with EOL hardware, upcoming audits, or recent breach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201168" cy="201168"/>
          </a:xfrm>
          <a:prstGeom prst="ellipse">
            <a:avLst/>
          </a:prstGeom>
          <a:noFill/>
          <a:ln w="1270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ED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3072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Lead with the risk problem — not the product — in cold outreach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201168" cy="201168"/>
          </a:xfrm>
          <a:prstGeom prst="ellipse">
            <a:avLst/>
          </a:prstGeom>
          <a:noFill/>
          <a:ln w="1270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3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" y="34015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Target CISO or IT Director from day one; don't get stuck with a gatekeeper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201168" cy="201168"/>
          </a:xfrm>
          <a:prstGeom prst="ellipse">
            <a:avLst/>
          </a:prstGeom>
          <a:noFill/>
          <a:ln w="1270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ED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3730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Commit to proposal delivery within 24 hours of the discovery 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noFill/>
          <a:ln w="1270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ED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" y="40599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Run DealTrace on your current pipeline to find threads that match this profile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480560"/>
            <a:ext cx="85039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BA7E0"/>
                </a:solidFill>
              </a:rPr>
              <a:t>Sophos Confidential  |  DealTrace AI Engine  |  Not for external distribution</a:t>
            </a:r>
            <a:endParaRPr lang="en-US" sz="8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2006F7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err="1" smtClean="0">
            <a:ln>
              <a:noFill/>
            </a:ln>
            <a:solidFill>
              <a:srgbClr val="001A47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5" id="{1883AFB2-706E-794B-B9F0-FA7128B872BA}" vid="{BB885FC5-CF5B-4D40-A3B9-3481D2F34FEA}"/>
    </a:ext>
  </a:extLst>
</a:theme>
</file>

<file path=ppt/theme/theme2.xml><?xml version="1.0" encoding="utf-8"?>
<a:theme xmlns:a="http://schemas.openxmlformats.org/drawingml/2006/main" name="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4"/>
            </a:gs>
            <a:gs pos="100000">
              <a:schemeClr val="accent5"/>
            </a:gs>
          </a:gsLst>
          <a:lin ang="5400000" scaled="1"/>
          <a:tileRect/>
        </a:gra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gradFill flip="none" rotWithShape="1">
            <a:gsLst>
              <a:gs pos="20000">
                <a:schemeClr val="accent4"/>
              </a:gs>
              <a:gs pos="80000">
                <a:schemeClr val="accent5"/>
              </a:gs>
            </a:gsLst>
            <a:lin ang="0" scaled="1"/>
            <a:tileRect/>
          </a:gra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00EDFF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Graphics Template 2025 1.0.pptx" id="{FC1226C6-1D77-4418-8EF4-4C232B9D72BF}" vid="{1FA977B9-1536-4ADE-AEF0-B98182156026}"/>
    </a:ext>
  </a:extLst>
</a:theme>
</file>

<file path=ppt/theme/theme3.xml><?xml version="1.0" encoding="utf-8"?>
<a:theme xmlns:a="http://schemas.openxmlformats.org/drawingml/2006/main" name="1_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2006F7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err="1" smtClean="0">
            <a:ln>
              <a:noFill/>
            </a:ln>
            <a:solidFill>
              <a:srgbClr val="001A47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Dark" id="{71146B3E-9A71-A746-B342-936B64C7502B}" vid="{48A53C35-5D28-0043-B015-229F9F607FA8}"/>
    </a:ext>
  </a:extLst>
</a:theme>
</file>

<file path=ppt/theme/theme4.xml><?xml version="1.0" encoding="utf-8"?>
<a:theme xmlns:a="http://schemas.openxmlformats.org/drawingml/2006/main" name="2_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4"/>
            </a:gs>
            <a:gs pos="100000">
              <a:schemeClr val="accent5"/>
            </a:gs>
          </a:gsLst>
          <a:lin ang="5400000" scaled="1"/>
          <a:tileRect/>
        </a:gra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gradFill flip="none" rotWithShape="1">
            <a:gsLst>
              <a:gs pos="20000">
                <a:schemeClr val="accent4"/>
              </a:gs>
              <a:gs pos="80000">
                <a:schemeClr val="accent5"/>
              </a:gs>
            </a:gsLst>
            <a:lin ang="0" scaled="1"/>
            <a:tileRect/>
          </a:gra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00EDFF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Graphics Template 2025 1.0.pptx" id="{FC1226C6-1D77-4418-8EF4-4C232B9D72BF}" vid="{1FA977B9-1536-4ADE-AEF0-B981821560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Theme5</Template>
  <TotalTime>23</TotalTime>
  <Words>930</Words>
  <Application>Microsoft Macintosh PowerPoint</Application>
  <PresentationFormat>On-screen Show (16:9)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Georgia</vt:lpstr>
      <vt:lpstr>Theme5</vt:lpstr>
      <vt:lpstr>SOPHOS DARK</vt:lpstr>
      <vt:lpstr>1_Sophos Dark</vt:lpstr>
      <vt:lpstr>2_SOPHOS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DealTrace Case Study — Mirkwood Retail Group</dc:title>
  <dc:subject>PptxGenJS Presentation</dc:subject>
  <dc:creator>PptxGenJS</dc:creator>
  <cp:lastModifiedBy>Nicaela Cabuhat</cp:lastModifiedBy>
  <cp:revision>3</cp:revision>
  <dcterms:created xsi:type="dcterms:W3CDTF">2026-04-07T09:39:18Z</dcterms:created>
  <dcterms:modified xsi:type="dcterms:W3CDTF">2026-04-07T10:18:00Z</dcterms:modified>
</cp:coreProperties>
</file>